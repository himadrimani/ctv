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A2BE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BEBF5"/>
                </a:solidFill>
                <a:latin typeface="Arial"/>
              </a:defRPr>
            </a:pPr>
            <a:r>
              <a:t>🛍️ Purplle Retail Store Intelligence System (PRIS)</a:t>
            </a:r>
          </a:p>
          <a:p>
            <a:pPr>
              <a:spcBef>
                <a:spcPts val="1500"/>
              </a:spcBef>
              <a:defRPr sz="2000">
                <a:solidFill>
                  <a:srgbClr val="8A2BE2"/>
                </a:solidFill>
                <a:latin typeface="Arial"/>
              </a:defRPr>
            </a:pPr>
            <a:r>
              <a:t>AI-Powered CCTV Store Analytics Platform | Purplle Tech Challenge 2026</a:t>
            </a:r>
          </a:p>
          <a:p>
            <a:pPr>
              <a:spcBef>
                <a:spcPts val="4000"/>
              </a:spcBef>
              <a:defRPr sz="1600">
                <a:solidFill>
                  <a:srgbClr val="A5A5B4"/>
                </a:solidFill>
                <a:latin typeface="Arial"/>
              </a:defRPr>
            </a:pPr>
            <a:r>
              <a:t>Presented by: Himadri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A2BE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BEBF5"/>
                </a:solidFill>
                <a:latin typeface="Arial"/>
              </a:defRPr>
            </a:pPr>
            <a:r>
              <a:t>📈 Executive Summary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i="1">
                <a:solidFill>
                  <a:srgbClr val="00FFCC"/>
                </a:solidFill>
              </a:defRPr>
            </a:pPr>
            <a:r>
              <a:t>PRIS turns standard store security cameras into a real-time layout and operations optimization engine.</a:t>
            </a:r>
          </a:p>
          <a:p>
            <a:pPr>
              <a:spcBef>
                <a:spcPts val="800"/>
              </a:spcBef>
              <a:defRPr b="1" sz="1600">
                <a:solidFill>
                  <a:srgbClr val="EBEBF5"/>
                </a:solidFill>
              </a:defRPr>
            </a:pPr>
            <a:r>
              <a:t>•  Conversion Recovery: </a:t>
            </a:r>
            <a:r>
              <a:rPr b="0">
                <a:solidFill>
                  <a:srgbClr val="A5A5B4"/>
                </a:solidFill>
              </a:rPr>
              <a:t>Automatically identify when long checkout queue lines cause retail shopping cart abandonment, triggering staff alerts to open extra registers.</a:t>
            </a:r>
          </a:p>
          <a:p>
            <a:pPr>
              <a:spcBef>
                <a:spcPts val="800"/>
              </a:spcBef>
              <a:defRPr b="1" sz="1600">
                <a:solidFill>
                  <a:srgbClr val="EBEBF5"/>
                </a:solidFill>
              </a:defRPr>
            </a:pPr>
            <a:r>
              <a:t>•  Spatial Analytics: </a:t>
            </a:r>
            <a:r>
              <a:rPr b="0">
                <a:solidFill>
                  <a:srgbClr val="A5A5B4"/>
                </a:solidFill>
              </a:rPr>
              <a:t>Replace manual floor audits with precise, continuous dwell-time heatmaps that show exactly which store shelves and cosmetic aisles capture 80% of browsing attention.</a:t>
            </a:r>
          </a:p>
          <a:p>
            <a:pPr>
              <a:spcBef>
                <a:spcPts val="800"/>
              </a:spcBef>
              <a:defRPr b="1" sz="1600">
                <a:solidFill>
                  <a:srgbClr val="EBEBF5"/>
                </a:solidFill>
              </a:defRPr>
            </a:pPr>
            <a:r>
              <a:t>•  Edge Compatibility: </a:t>
            </a:r>
            <a:r>
              <a:rPr b="0">
                <a:solidFill>
                  <a:srgbClr val="A5A5B4"/>
                </a:solidFill>
              </a:rPr>
              <a:t>Designed to run efficiently on local store hardware with frame-skipping optimizations, cutting bandwidth requirements by keeping heavy video processing local.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A2BE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BEBF5"/>
                </a:solidFill>
                <a:latin typeface="Arial"/>
              </a:defRPr>
            </a:pPr>
            <a:r>
              <a:t>🚫 The Retail Friction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EBF5"/>
                </a:solidFill>
              </a:defRPr>
            </a:pPr>
            <a:r>
              <a:t>Traditional physical brick-and-mortar stores are operating blind compared to modern e-commerce systems:</a:t>
            </a:r>
          </a:p>
          <a:p>
            <a:pPr>
              <a:spcBef>
                <a:spcPts val="800"/>
              </a:spcBef>
              <a:defRPr b="1" sz="1600">
                <a:solidFill>
                  <a:srgbClr val="FF4B4B"/>
                </a:solidFill>
              </a:defRPr>
            </a:pPr>
            <a:r>
              <a:t>•  Checkout Queue Churn: </a:t>
            </a:r>
            <a:r>
              <a:rPr b="0">
                <a:solidFill>
                  <a:srgbClr val="A5A5B4"/>
                </a:solidFill>
              </a:rPr>
              <a:t>Long checkout wait times are the #1 cause of in-store dropouts. Store managers have no automated notification method to detect queues exceeding threshold capacities.</a:t>
            </a:r>
          </a:p>
          <a:p>
            <a:pPr>
              <a:spcBef>
                <a:spcPts val="800"/>
              </a:spcBef>
              <a:defRPr b="1" sz="1600">
                <a:solidFill>
                  <a:srgbClr val="FF4B4B"/>
                </a:solidFill>
              </a:defRPr>
            </a:pPr>
            <a:r>
              <a:t>•  Layout Aisle Blindspots: </a:t>
            </a:r>
            <a:r>
              <a:rPr b="0">
                <a:solidFill>
                  <a:srgbClr val="A5A5B4"/>
                </a:solidFill>
              </a:rPr>
              <a:t>Retailers lack spatial dwell-time telemetry, making it impossible to audit shelf performance, brand-aisle engagement, or store bottleneck zones objectively.</a:t>
            </a:r>
          </a:p>
          <a:p>
            <a:pPr>
              <a:spcBef>
                <a:spcPts val="800"/>
              </a:spcBef>
              <a:defRPr b="1" sz="1600">
                <a:solidFill>
                  <a:srgbClr val="FF4B4B"/>
                </a:solidFill>
              </a:defRPr>
            </a:pPr>
            <a:r>
              <a:t>•  Unused Security Feeds: </a:t>
            </a:r>
            <a:r>
              <a:rPr b="0">
                <a:solidFill>
                  <a:srgbClr val="A5A5B4"/>
                </a:solidFill>
              </a:rPr>
              <a:t>Standard CCTV camera hardware serves only as historical video storage for safety incidents, missing the opportunity to provide active operational intelligence.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A2BE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BEBF5"/>
                </a:solidFill>
                <a:latin typeface="Arial"/>
              </a:defRPr>
            </a:pPr>
            <a:r>
              <a:t>🏗️ System Architecture &amp; Stack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EBEBF5"/>
                </a:solidFill>
              </a:defRPr>
            </a:pPr>
            <a:r>
              <a:t>A production-grade, highly decoupled microservices architecture built for maximum performance:</a:t>
            </a:r>
          </a:p>
          <a:p>
            <a:pPr>
              <a:spcBef>
                <a:spcPts val="800"/>
              </a:spcBef>
              <a:defRPr b="1" sz="1600">
                <a:solidFill>
                  <a:srgbClr val="8A2BE2"/>
                </a:solidFill>
              </a:defRPr>
            </a:pPr>
            <a:r>
              <a:t>⚙️  AI Processing Layer: </a:t>
            </a:r>
            <a:r>
              <a:rPr b="0">
                <a:solidFill>
                  <a:srgbClr val="A5A5B4"/>
                </a:solidFill>
              </a:rPr>
              <a:t>OpenCV Decoder + YOLOv8 Nano Neural Network (Person Detection) + Multi-Object ByteTrack Coordinator.</a:t>
            </a:r>
          </a:p>
          <a:p>
            <a:pPr>
              <a:spcBef>
                <a:spcPts val="800"/>
              </a:spcBef>
              <a:defRPr b="1" sz="1600">
                <a:solidFill>
                  <a:srgbClr val="8A2BE2"/>
                </a:solidFill>
              </a:defRPr>
            </a:pPr>
            <a:r>
              <a:t>⚙️  Relational Storage Layer: </a:t>
            </a:r>
            <a:r>
              <a:rPr b="0">
                <a:solidFill>
                  <a:srgbClr val="A5A5B4"/>
                </a:solidFill>
              </a:rPr>
              <a:t>SQLite relational database schema maintaining persistent camera, structured occupancy telemetry snapshots, and alarm log histories.</a:t>
            </a:r>
          </a:p>
          <a:p>
            <a:pPr>
              <a:spcBef>
                <a:spcPts val="800"/>
              </a:spcBef>
              <a:defRPr b="1" sz="1600">
                <a:solidFill>
                  <a:srgbClr val="8A2BE2"/>
                </a:solidFill>
              </a:defRPr>
            </a:pPr>
            <a:r>
              <a:t>⚙️  API Gateway Layer: </a:t>
            </a:r>
            <a:r>
              <a:rPr b="0">
                <a:solidFill>
                  <a:srgbClr val="A5A5B4"/>
                </a:solidFill>
              </a:rPr>
              <a:t>FastAPI server gateway handling background multi-threaded worker pools, exposing REST APIs, and chunking live HTTP MJPEG stream frames.</a:t>
            </a:r>
          </a:p>
          <a:p>
            <a:pPr>
              <a:spcBef>
                <a:spcPts val="800"/>
              </a:spcBef>
              <a:defRPr b="1" sz="1600">
                <a:solidFill>
                  <a:srgbClr val="8A2BE2"/>
                </a:solidFill>
              </a:defRPr>
            </a:pPr>
            <a:r>
              <a:t>⚙️  Visual Analytics UI: </a:t>
            </a:r>
            <a:r>
              <a:rPr b="0">
                <a:solidFill>
                  <a:srgbClr val="A5A5B4"/>
                </a:solidFill>
              </a:rPr>
              <a:t>Streamlit Dashboard rendering metrics counters, Plotly interactive trend graphs, camera configuration managers, and tabular system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A2BE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BEBF5"/>
                </a:solidFill>
                <a:latin typeface="Arial"/>
              </a:defRPr>
            </a:pPr>
            <a:r>
              <a:t>🔬 Deep Dive: Person Tracking &amp; ROI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00FFCC"/>
                </a:solidFill>
              </a:defRPr>
            </a:pPr>
            <a:r>
              <a:t>How the pipeline performs geometric tracking on raw video frames in real time:</a:t>
            </a:r>
          </a:p>
          <a:p>
            <a:pPr>
              <a:spcBef>
                <a:spcPts val="800"/>
              </a:spcBef>
              <a:defRPr b="1" sz="1600">
                <a:solidFill>
                  <a:srgbClr val="EBEBF5"/>
                </a:solidFill>
              </a:defRPr>
            </a:pPr>
            <a:r>
              <a:t>•  ByteTrack Multi-Object ID Association: </a:t>
            </a:r>
            <a:r>
              <a:rPr b="0">
                <a:solidFill>
                  <a:srgbClr val="A5A5B4"/>
                </a:solidFill>
              </a:rPr>
              <a:t>Maintains continuous ID tracking for every individual walking across the floor. Prevents ID swapping and accounts for partial occlusions behind product shelves.</a:t>
            </a:r>
          </a:p>
          <a:p>
            <a:pPr>
              <a:spcBef>
                <a:spcPts val="800"/>
              </a:spcBef>
              <a:defRPr b="1" sz="1600">
                <a:solidFill>
                  <a:srgbClr val="EBEBF5"/>
                </a:solidFill>
              </a:defRPr>
            </a:pPr>
            <a:r>
              <a:t>•  Geometric Point-in-Polygon Classification: </a:t>
            </a:r>
            <a:r>
              <a:rPr b="0">
                <a:solidFill>
                  <a:srgbClr val="A5A5B4"/>
                </a:solidFill>
              </a:rPr>
              <a:t>Uses OpenCV's cv2.pointPolygonTest to evaluate the precise bottom-center coordinate of tracked bounding boxes against region polygons (Queue Zone vs Shopping Floor).</a:t>
            </a:r>
          </a:p>
          <a:p>
            <a:pPr>
              <a:spcBef>
                <a:spcPts val="800"/>
              </a:spcBef>
              <a:defRPr b="1" sz="1600">
                <a:solidFill>
                  <a:srgbClr val="EBEBF5"/>
                </a:solidFill>
              </a:defRPr>
            </a:pPr>
            <a:r>
              <a:t>•  Simulation Mode Capability: </a:t>
            </a:r>
            <a:r>
              <a:rPr b="0">
                <a:solidFill>
                  <a:srgbClr val="A5A5B4"/>
                </a:solidFill>
              </a:rPr>
              <a:t>Features a built-in dark-themed shop floor blueprint engine simulating natural customer trajectories to guarantee immediate, zero-config evaluation out-of-the-box.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A2BE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BEBF5"/>
                </a:solidFill>
                <a:latin typeface="Arial"/>
              </a:defRPr>
            </a:pPr>
            <a:r>
              <a:t>🚨 Smart Operations Rules &amp; Event Logger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EBF5"/>
                </a:solidFill>
              </a:defRPr>
            </a:pPr>
            <a:r>
              <a:t>PRIS implements a robust business logic engine that evaluates telemetry data and fires alerts:</a:t>
            </a:r>
          </a:p>
          <a:p>
            <a:pPr>
              <a:spcBef>
                <a:spcPts val="800"/>
              </a:spcBef>
              <a:defRPr b="1" sz="1600">
                <a:solidFill>
                  <a:srgbClr val="FF4B4B"/>
                </a:solidFill>
              </a:defRPr>
            </a:pPr>
            <a:r>
              <a:t>•  Queue Congestion (QUEUE_ALERT): </a:t>
            </a:r>
            <a:r>
              <a:rPr b="0">
                <a:solidFill>
                  <a:srgbClr val="A5A5B4"/>
                </a:solidFill>
              </a:rPr>
              <a:t>Triggered automatically when the occupancy of the checkout queue zone reaches 3 or more people. Alerts store managers in real time.</a:t>
            </a:r>
          </a:p>
          <a:p>
            <a:pPr>
              <a:spcBef>
                <a:spcPts val="800"/>
              </a:spcBef>
              <a:defRPr b="1" sz="1600">
                <a:solidFill>
                  <a:srgbClr val="FF4B4B"/>
                </a:solidFill>
              </a:defRPr>
            </a:pPr>
            <a:r>
              <a:t>•  Suspicious Loitering (LOITERING): </a:t>
            </a:r>
            <a:r>
              <a:rPr b="0">
                <a:solidFill>
                  <a:srgbClr val="A5A5B4"/>
                </a:solidFill>
              </a:rPr>
              <a:t>Monitors unique customer tracking durations inside specific zones. Fires a warning event if an ID spends more than 15 consecutive seconds in one spot.</a:t>
            </a:r>
          </a:p>
          <a:p>
            <a:pPr>
              <a:spcBef>
                <a:spcPts val="800"/>
              </a:spcBef>
              <a:defRPr b="1" sz="1600">
                <a:solidFill>
                  <a:srgbClr val="FF4B4B"/>
                </a:solidFill>
              </a:defRPr>
            </a:pPr>
            <a:r>
              <a:t>•  Overall Store Capacity (CROWD_ALERT): </a:t>
            </a:r>
            <a:r>
              <a:rPr b="0">
                <a:solidFill>
                  <a:srgbClr val="A5A5B4"/>
                </a:solidFill>
              </a:rPr>
              <a:t>Fires a warning or critical severity capacity event in the database when the overall headcount exceeds safe density thresholds.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A2BE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BEBF5"/>
                </a:solidFill>
                <a:latin typeface="Arial"/>
              </a:defRPr>
            </a:pPr>
            <a:r>
              <a:t>🔥 Decaying Spatial Activity Heatmaps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00FFCC"/>
                </a:solidFill>
              </a:defRPr>
            </a:pPr>
            <a:r>
              <a:t>Replacing static graphs with visual spatial analytics layered onto live camera frames:</a:t>
            </a:r>
          </a:p>
          <a:p>
            <a:pPr>
              <a:spcBef>
                <a:spcPts val="800"/>
              </a:spcBef>
              <a:defRPr b="1" sz="1600">
                <a:solidFill>
                  <a:srgbClr val="EBEBF5"/>
                </a:solidFill>
              </a:defRPr>
            </a:pPr>
            <a:r>
              <a:t>•  Continuous Density Accumulation: </a:t>
            </a:r>
            <a:r>
              <a:rPr b="0">
                <a:solidFill>
                  <a:srgbClr val="A5A5B4"/>
                </a:solidFill>
              </a:rPr>
              <a:t>Maps coordinates of tracked shoppers to a normalized micro-matrix, accumulating weight values where customers linger longest.</a:t>
            </a:r>
          </a:p>
          <a:p>
            <a:pPr>
              <a:spcBef>
                <a:spcPts val="800"/>
              </a:spcBef>
              <a:defRPr b="1" sz="1600">
                <a:solidFill>
                  <a:srgbClr val="EBEBF5"/>
                </a:solidFill>
              </a:defRPr>
            </a:pPr>
            <a:r>
              <a:t>•  Leaky Integrator Decay Logic: </a:t>
            </a:r>
            <a:r>
              <a:rPr b="0">
                <a:solidFill>
                  <a:srgbClr val="A5A5B4"/>
                </a:solidFill>
              </a:rPr>
              <a:t>Applies a continuous decay factor (99.5% multiplier) to the coordinate matrix every frame, ensuring that the visual overlay represents fresh, dynamic customer flow trends.</a:t>
            </a:r>
          </a:p>
          <a:p>
            <a:pPr>
              <a:spcBef>
                <a:spcPts val="800"/>
              </a:spcBef>
              <a:defRPr b="1" sz="1600">
                <a:solidFill>
                  <a:srgbClr val="EBEBF5"/>
                </a:solidFill>
              </a:defRPr>
            </a:pPr>
            <a:r>
              <a:t>•  OpenCV JET Thermal Smoothing: </a:t>
            </a:r>
            <a:r>
              <a:rPr b="0">
                <a:solidFill>
                  <a:srgbClr val="A5A5B4"/>
                </a:solidFill>
              </a:rPr>
              <a:t>Processes the accumulated matrix through a Gaussian Blur and JET color mapping overlay, highlighting high-traffic store aisle zones in warm red and quiet areas in cool blue.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A2BE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BEBF5"/>
                </a:solidFill>
                <a:latin typeface="Arial"/>
              </a:defRPr>
            </a:pPr>
            <a:r>
              <a:t>🚀 Scalability &amp; Enterprise Future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EBEBF5"/>
                </a:solidFill>
              </a:defRPr>
            </a:pPr>
            <a:r>
              <a:t>How this architecture is designed to scale across hundreds of retail stores:</a:t>
            </a:r>
          </a:p>
          <a:p>
            <a:pPr>
              <a:spcBef>
                <a:spcPts val="800"/>
              </a:spcBef>
              <a:defRPr b="1" sz="1600">
                <a:solidFill>
                  <a:srgbClr val="8A2BE2"/>
                </a:solidFill>
              </a:defRPr>
            </a:pPr>
            <a:r>
              <a:t>⚡  NVIDIA TensorRT Model Quantization: </a:t>
            </a:r>
            <a:r>
              <a:rPr b="0">
                <a:solidFill>
                  <a:srgbClr val="A5A5B4"/>
                </a:solidFill>
              </a:rPr>
              <a:t>Exporting model weights to FP16/INT8 ONNX/TensorRT formats to decrease inference latency to &lt;5ms per frame on edge computers (e.g. Jetson Orin).</a:t>
            </a:r>
          </a:p>
          <a:p>
            <a:pPr>
              <a:spcBef>
                <a:spcPts val="800"/>
              </a:spcBef>
              <a:defRPr b="1" sz="1600">
                <a:solidFill>
                  <a:srgbClr val="8A2BE2"/>
                </a:solidFill>
              </a:defRPr>
            </a:pPr>
            <a:r>
              <a:t>⚡  Decoupled Frame Capture Queue: </a:t>
            </a:r>
            <a:r>
              <a:rPr b="0">
                <a:solidFill>
                  <a:srgbClr val="A5A5B4"/>
                </a:solidFill>
              </a:rPr>
              <a:t>Using multiprocessing queue buffers to run video capture and neural network inference on separate, non-blocking threads to maximize framerates.</a:t>
            </a:r>
          </a:p>
          <a:p>
            <a:pPr>
              <a:spcBef>
                <a:spcPts val="800"/>
              </a:spcBef>
              <a:defRPr b="1" sz="1600">
                <a:solidFill>
                  <a:srgbClr val="8A2BE2"/>
                </a:solidFill>
              </a:defRPr>
            </a:pPr>
            <a:r>
              <a:t>⚡  Supabase Cloud Sync &amp; Redis Pub/Sub: </a:t>
            </a:r>
            <a:r>
              <a:rPr b="0">
                <a:solidFill>
                  <a:srgbClr val="A5A5B4"/>
                </a:solidFill>
              </a:rPr>
              <a:t>Syncing local SQLite analytical records to central cloud databases, and utilizing Redis Pub/Sub channels to immediately dispatch SMS notifications to store staff.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A2BE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BEBF5"/>
                </a:solidFill>
                <a:latin typeface="Arial"/>
              </a:defRPr>
            </a:pPr>
            <a:r>
              <a:t>📊 Commercial Impact &amp; Retail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00FFCC"/>
                </a:solidFill>
              </a:defRPr>
            </a:pPr>
            <a:r>
              <a:t>Quantifiable business value generated by deploying the PRIS system:</a:t>
            </a:r>
          </a:p>
          <a:p>
            <a:pPr>
              <a:spcBef>
                <a:spcPts val="800"/>
              </a:spcBef>
              <a:defRPr b="1" sz="1600">
                <a:solidFill>
                  <a:srgbClr val="EBEBF5"/>
                </a:solidFill>
              </a:defRPr>
            </a:pPr>
            <a:r>
              <a:t>•  15% Queue Attrition Reduction: </a:t>
            </a:r>
            <a:r>
              <a:rPr b="0">
                <a:solidFill>
                  <a:srgbClr val="A5A5B4"/>
                </a:solidFill>
              </a:rPr>
              <a:t>By instantly alerting staff to open additional checkout counters, stores prevent checkout abandonment and directly protect transactions.</a:t>
            </a:r>
          </a:p>
          <a:p>
            <a:pPr>
              <a:spcBef>
                <a:spcPts val="800"/>
              </a:spcBef>
              <a:defRPr b="1" sz="1600">
                <a:solidFill>
                  <a:srgbClr val="EBEBF5"/>
                </a:solidFill>
              </a:defRPr>
            </a:pPr>
            <a:r>
              <a:t>•  20% Layout Discovery Uplift: </a:t>
            </a:r>
            <a:r>
              <a:rPr b="0">
                <a:solidFill>
                  <a:srgbClr val="A5A5B4"/>
                </a:solidFill>
              </a:rPr>
              <a:t>Using continuous heatmap traffic visualizers, store designers optimize aisle placements and shelving layouts to increase product discoverability.</a:t>
            </a:r>
          </a:p>
          <a:p>
            <a:pPr>
              <a:spcBef>
                <a:spcPts val="800"/>
              </a:spcBef>
              <a:defRPr b="1" sz="1600">
                <a:solidFill>
                  <a:srgbClr val="EBEBF5"/>
                </a:solidFill>
              </a:defRPr>
            </a:pPr>
            <a:r>
              <a:t>•  Data-Driven Staff Allocation: </a:t>
            </a:r>
            <a:r>
              <a:rPr b="0">
                <a:solidFill>
                  <a:srgbClr val="A5A5B4"/>
                </a:solidFill>
              </a:rPr>
              <a:t>Predictive scheduling based on peak traffic times logged in the database decreases staffing overhead costs by matching assistant levels to store demand.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A2BE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BEBF5"/>
                </a:solidFill>
                <a:latin typeface="Arial"/>
              </a:defRPr>
            </a:pPr>
            <a:r>
              <a:t>🏁 Conclusion &amp; Developer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EBF5"/>
                </a:solidFill>
              </a:defRPr>
            </a:pPr>
            <a:r>
              <a:t>PRIS is fully developed, packaged, and ready for deployment and evaluation:</a:t>
            </a:r>
          </a:p>
          <a:p>
            <a:pPr>
              <a:spcBef>
                <a:spcPts val="800"/>
              </a:spcBef>
              <a:defRPr b="1" sz="1600">
                <a:solidFill>
                  <a:srgbClr val="8A2BE2"/>
                </a:solidFill>
              </a:defRPr>
            </a:pPr>
            <a:r>
              <a:t>•  GitHub Repository Link: </a:t>
            </a:r>
            <a:r>
              <a:rPr b="0">
                <a:solidFill>
                  <a:srgbClr val="A5A5B4"/>
                </a:solidFill>
              </a:rPr>
              <a:t>Contains complete modular code, docker-compose configurations, and visual styling. Raw video data is gitignored to keep the repository lightweight.</a:t>
            </a:r>
          </a:p>
          <a:p>
            <a:pPr>
              <a:spcBef>
                <a:spcPts val="800"/>
              </a:spcBef>
              <a:defRPr b="1" sz="1600">
                <a:solidFill>
                  <a:srgbClr val="8A2BE2"/>
                </a:solidFill>
              </a:defRPr>
            </a:pPr>
            <a:r>
              <a:t>•  Docker Containerized Execution: </a:t>
            </a:r>
            <a:r>
              <a:rPr b="0">
                <a:solidFill>
                  <a:srgbClr val="A5A5B4"/>
                </a:solidFill>
              </a:rPr>
              <a:t>Tester runs the whole platform with a single command (docker-compose up --build), launching both API and Dashboard servers instantly.</a:t>
            </a:r>
          </a:p>
          <a:p>
            <a:pPr>
              <a:spcBef>
                <a:spcPts val="800"/>
              </a:spcBef>
              <a:defRPr b="1" sz="1600">
                <a:solidFill>
                  <a:srgbClr val="8A2BE2"/>
                </a:solidFill>
              </a:defRPr>
            </a:pPr>
            <a:r>
              <a:t>•  Comprehensive Technical README: </a:t>
            </a:r>
            <a:r>
              <a:rPr b="0">
                <a:solidFill>
                  <a:srgbClr val="A5A5B4"/>
                </a:solidFill>
              </a:rPr>
              <a:t>Contains structural blue-prints, detailed API endpoints maps, developer setup guides, and troubleshooting procedures.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